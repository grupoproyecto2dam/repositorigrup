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MuseoModerno Medium" panose="020B0604020202020204" charset="0"/>
      <p:regular r:id="rId16"/>
    </p:embeddedFont>
    <p:embeddedFont>
      <p:font typeface="Source Sans 3" panose="020B0604020202020204" charset="0"/>
      <p:regular r:id="rId17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0B0DD-DD75-E952-12A7-D89F69092E7B}" v="162" dt="2026-03-10T14:31:17.308"/>
    <p1510:client id="{90478B2C-2A04-41E3-A348-A2C5AB47C236}" v="301" dt="2026-03-10T12:02:08.650"/>
    <p1510:client id="{94C3F5A4-1EAC-964F-8F1A-15FCBA659673}" v="983" dt="2026-03-10T15:25:13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32122-0C1D-46D1-A4BF-64BD7C64B5CD}" type="datetimeFigureOut">
              <a:t>10/03/2026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34FC9-EB79-44CB-8559-4FD113949BF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071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F48-EDC2-4400-0F16-23A3F536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2EB2F-E95A-36D9-F839-1332F956E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5B403-9DB8-B713-17C3-0840940AC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530EF-367D-3ACF-0A2A-C9D106F41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15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hyperlink" Target="http://www.pngall.com/question-mark-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0068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SimaGrow</a:t>
            </a:r>
            <a:endParaRPr lang="en-US" sz="3550" err="1">
              <a:solidFill>
                <a:srgbClr val="124E73"/>
              </a:solidFill>
              <a:latin typeface="MuseoModerno Medium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262567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Proyecto intermodular DAM para digitalizar la gestión de incidencias y sostenibilidad del centro</a:t>
            </a:r>
            <a:endParaRPr lang="en-US" sz="1400">
              <a:latin typeface="Source Sans 3"/>
              <a:ea typeface="Calibri"/>
              <a:cs typeface="Calibri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697924"/>
            <a:ext cx="357297" cy="36901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3790" y="2195274"/>
            <a:ext cx="7556421" cy="2286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7" name="Text 3"/>
          <p:cNvSpPr/>
          <p:nvPr/>
        </p:nvSpPr>
        <p:spPr>
          <a:xfrm>
            <a:off x="793790" y="233172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Android</a:t>
            </a:r>
            <a:endParaRPr lang="en-US" sz="1750">
              <a:latin typeface="MuseoModerno Medium"/>
              <a:ea typeface="Calibri"/>
              <a:cs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2702242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App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móvil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para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reporte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incidencias</a:t>
            </a:r>
            <a:endParaRPr lang="en-US" sz="1400" err="1">
              <a:latin typeface="Source Sans 3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091467"/>
            <a:ext cx="357297" cy="35729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93790" y="3530203"/>
            <a:ext cx="7556421" cy="2286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1" name="Text 6"/>
          <p:cNvSpPr/>
          <p:nvPr/>
        </p:nvSpPr>
        <p:spPr>
          <a:xfrm>
            <a:off x="793790" y="36666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Spring Boot</a:t>
            </a:r>
            <a:endParaRPr lang="en-US" sz="1750">
              <a:latin typeface="MuseoModerno Medium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4037171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API REST y backend</a:t>
            </a:r>
            <a:endParaRPr lang="en-US" sz="1400">
              <a:latin typeface="Source Sans 3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426397"/>
            <a:ext cx="357297" cy="35729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93790" y="4865132"/>
            <a:ext cx="7556421" cy="2286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5" name="Text 9"/>
          <p:cNvSpPr/>
          <p:nvPr/>
        </p:nvSpPr>
        <p:spPr>
          <a:xfrm>
            <a:off x="793790" y="500157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Odoo</a:t>
            </a:r>
            <a:endParaRPr lang="en-US" sz="1750">
              <a:latin typeface="MuseoModerno Medium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93790" y="5372100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ERP y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gestión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centralizada</a:t>
            </a:r>
            <a:endParaRPr lang="en-US" sz="1400" err="1">
              <a:latin typeface="Source Sans 3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819940"/>
            <a:ext cx="357297" cy="3690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93790" y="6200061"/>
            <a:ext cx="7556421" cy="2286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9" name="Text 12"/>
          <p:cNvSpPr/>
          <p:nvPr/>
        </p:nvSpPr>
        <p:spPr>
          <a:xfrm>
            <a:off x="793790" y="633650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Qt</a:t>
            </a:r>
            <a:endParaRPr lang="en-US" sz="1750">
              <a:latin typeface="MuseoModerno Medium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793790" y="6707029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Cliente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escritorio</a:t>
            </a:r>
            <a:endParaRPr lang="en-US" sz="1400" err="1">
              <a:latin typeface="Source Sans 3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793790" y="7267575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Equipo:</a:t>
            </a: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Josep · Alex · Ruben · Raúl</a:t>
            </a:r>
            <a:endParaRPr lang="en-US" sz="140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83B214A-3781-0DDF-8FBB-8EE4444292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0337" y="3298"/>
            <a:ext cx="5493726" cy="822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31627"/>
            <a:ext cx="5989677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Qué problema resuelve</a:t>
            </a:r>
            <a:endParaRPr lang="en-US" sz="4200"/>
          </a:p>
        </p:txBody>
      </p:sp>
      <p:sp>
        <p:nvSpPr>
          <p:cNvPr id="3" name="Text 1"/>
          <p:cNvSpPr/>
          <p:nvPr/>
        </p:nvSpPr>
        <p:spPr>
          <a:xfrm>
            <a:off x="787956" y="1703308"/>
            <a:ext cx="13054489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proyecto nace para dar </a:t>
            </a:r>
            <a:r>
              <a:rPr lang="en-US" sz="1650" b="1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visibilidad, trazabilidad y participación</a:t>
            </a: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la gestión del centro educativo.</a:t>
            </a:r>
            <a:endParaRPr lang="en-US" sz="1650"/>
          </a:p>
        </p:txBody>
      </p:sp>
      <p:sp>
        <p:nvSpPr>
          <p:cNvPr id="4" name="Text 2"/>
          <p:cNvSpPr/>
          <p:nvPr/>
        </p:nvSpPr>
        <p:spPr>
          <a:xfrm>
            <a:off x="787956" y="2464356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El desafío actual</a:t>
            </a:r>
            <a:endParaRPr lang="en-US" sz="2100"/>
          </a:p>
        </p:txBody>
      </p:sp>
      <p:sp>
        <p:nvSpPr>
          <p:cNvPr id="5" name="Text 3"/>
          <p:cNvSpPr/>
          <p:nvPr/>
        </p:nvSpPr>
        <p:spPr>
          <a:xfrm>
            <a:off x="787956" y="3000256"/>
            <a:ext cx="6266378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Información dispersa o gestionada manualmente en diferentes departamentos, sin seguimiento centralizado ni trazabilidad clara.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7583686" y="2464356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Nuestra solución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7583686" y="3000256"/>
            <a:ext cx="6266378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Centralizar todos los datos en una plataforma digital unificada con acceso en tiempo real.</a:t>
            </a:r>
            <a:endParaRPr lang="en-US" sz="1650"/>
          </a:p>
        </p:txBody>
      </p:sp>
      <p:sp>
        <p:nvSpPr>
          <p:cNvPr id="8" name="Shape 6"/>
          <p:cNvSpPr/>
          <p:nvPr/>
        </p:nvSpPr>
        <p:spPr>
          <a:xfrm>
            <a:off x="787956" y="4073604"/>
            <a:ext cx="6426398" cy="12153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001792" y="4287441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Más orden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001792" y="4742617"/>
            <a:ext cx="599872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Centralizar información que antes estaba dispersa o manual</a:t>
            </a:r>
            <a:endParaRPr lang="en-US" sz="1650"/>
          </a:p>
        </p:txBody>
      </p:sp>
      <p:sp>
        <p:nvSpPr>
          <p:cNvPr id="11" name="Shape 9"/>
          <p:cNvSpPr/>
          <p:nvPr/>
        </p:nvSpPr>
        <p:spPr>
          <a:xfrm>
            <a:off x="7416046" y="4073604"/>
            <a:ext cx="6426398" cy="12153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9882" y="4287441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Más rapidez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7629882" y="4742617"/>
            <a:ext cx="599872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Respuesta inmediata y seguimiento continuo de cada incidencia</a:t>
            </a:r>
            <a:endParaRPr lang="en-US" sz="1650"/>
          </a:p>
        </p:txBody>
      </p:sp>
      <p:sp>
        <p:nvSpPr>
          <p:cNvPr id="14" name="Shape 12"/>
          <p:cNvSpPr/>
          <p:nvPr/>
        </p:nvSpPr>
        <p:spPr>
          <a:xfrm>
            <a:off x="787956" y="5490686"/>
            <a:ext cx="6426398" cy="12153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792" y="5704523"/>
            <a:ext cx="267366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Más seguimiento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1001792" y="6159698"/>
            <a:ext cx="599872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Trazabilidad completa desde el reporte hasta la resolución</a:t>
            </a:r>
            <a:endParaRPr lang="en-US" sz="1650"/>
          </a:p>
        </p:txBody>
      </p:sp>
      <p:sp>
        <p:nvSpPr>
          <p:cNvPr id="17" name="Shape 15"/>
          <p:cNvSpPr/>
          <p:nvPr/>
        </p:nvSpPr>
        <p:spPr>
          <a:xfrm>
            <a:off x="7416046" y="5490686"/>
            <a:ext cx="6426398" cy="12153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18" name="Text 16"/>
          <p:cNvSpPr/>
          <p:nvPr/>
        </p:nvSpPr>
        <p:spPr>
          <a:xfrm>
            <a:off x="7629882" y="5704523"/>
            <a:ext cx="335458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Más aprendizaje aplicado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7629882" y="6159698"/>
            <a:ext cx="599872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Conectar tecnologías del ciclo en un caso práctico real</a:t>
            </a:r>
            <a:endParaRPr lang="en-US" sz="1650"/>
          </a:p>
        </p:txBody>
      </p:sp>
      <p:sp>
        <p:nvSpPr>
          <p:cNvPr id="20" name="Text 18"/>
          <p:cNvSpPr/>
          <p:nvPr/>
        </p:nvSpPr>
        <p:spPr>
          <a:xfrm>
            <a:off x="787956" y="6932890"/>
            <a:ext cx="13054489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SIMAGROW convierte una necesidad del instituto en una solución digital:</a:t>
            </a:r>
            <a:r>
              <a:rPr lang="en-US" sz="16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Permitir que alumnado y profesorado reporten incidencias con seguimiento, y aportar datos e indicadores para ver resultados reales.</a:t>
            </a:r>
            <a:endParaRPr lang="en-US" sz="165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6329E7FD-0078-1B65-7A6C-3191314E55A3}"/>
              </a:ext>
            </a:extLst>
          </p:cNvPr>
          <p:cNvSpPr/>
          <p:nvPr/>
        </p:nvSpPr>
        <p:spPr>
          <a:xfrm>
            <a:off x="-754" y="77258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98A00CB2-4AD5-4B94-1AC5-0625285E061B}"/>
              </a:ext>
            </a:extLst>
          </p:cNvPr>
          <p:cNvSpPr/>
          <p:nvPr/>
        </p:nvSpPr>
        <p:spPr>
          <a:xfrm>
            <a:off x="-754" y="4284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4027"/>
            <a:ext cx="482727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Arquitectura funcional</a:t>
            </a:r>
            <a:endParaRPr lang="en-US" sz="3550"/>
          </a:p>
        </p:txBody>
      </p:sp>
      <p:sp>
        <p:nvSpPr>
          <p:cNvPr id="4" name="Text 1"/>
          <p:cNvSpPr/>
          <p:nvPr/>
        </p:nvSpPr>
        <p:spPr>
          <a:xfrm>
            <a:off x="793790" y="1568648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módulo cubre una parte concreta del flujo y juntos forman la solución completa.</a:t>
            </a:r>
            <a:endParaRPr lang="en-US" sz="1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93106"/>
            <a:ext cx="907256" cy="10887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46183" y="217455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Android · SimaGrow</a:t>
            </a:r>
            <a:endParaRPr lang="en-US" sz="1750"/>
          </a:p>
        </p:txBody>
      </p:sp>
      <p:sp>
        <p:nvSpPr>
          <p:cNvPr id="7" name="Text 3"/>
          <p:cNvSpPr/>
          <p:nvPr/>
        </p:nvSpPr>
        <p:spPr>
          <a:xfrm>
            <a:off x="1846183" y="2545080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Interfaz móvil para login, registro, alta y consulta de incidencias</a:t>
            </a:r>
            <a:endParaRPr lang="en-US" sz="14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081814"/>
            <a:ext cx="907256" cy="10887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46183" y="3263265"/>
            <a:ext cx="24982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Spring Boot · API REST</a:t>
            </a:r>
            <a:endParaRPr lang="en-US" sz="1750"/>
          </a:p>
        </p:txBody>
      </p:sp>
      <p:sp>
        <p:nvSpPr>
          <p:cNvPr id="10" name="Text 5"/>
          <p:cNvSpPr/>
          <p:nvPr/>
        </p:nvSpPr>
        <p:spPr>
          <a:xfrm>
            <a:off x="1846183" y="3633788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Controladores, servicios y persistencia MySQL para usuarios, espacios e incidencias</a:t>
            </a:r>
            <a:endParaRPr lang="en-US" sz="14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170521"/>
            <a:ext cx="907256" cy="10887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46183" y="435197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Odoo · SGE</a:t>
            </a:r>
            <a:endParaRPr lang="en-US" sz="1750"/>
          </a:p>
        </p:txBody>
      </p:sp>
      <p:sp>
        <p:nvSpPr>
          <p:cNvPr id="13" name="Text 7"/>
          <p:cNvSpPr/>
          <p:nvPr/>
        </p:nvSpPr>
        <p:spPr>
          <a:xfrm>
            <a:off x="1846183" y="4722495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Addon simagrow_core con modelos, vistas, seguridad y endpoints tokenizados</a:t>
            </a:r>
            <a:endParaRPr lang="en-US" sz="14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259229"/>
            <a:ext cx="907256" cy="10887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46183" y="544068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Qt · Cliente desktop</a:t>
            </a:r>
            <a:endParaRPr lang="en-US" sz="1750"/>
          </a:p>
        </p:txBody>
      </p:sp>
      <p:sp>
        <p:nvSpPr>
          <p:cNvPr id="16" name="Text 9"/>
          <p:cNvSpPr/>
          <p:nvPr/>
        </p:nvSpPr>
        <p:spPr>
          <a:xfrm>
            <a:off x="1846183" y="5811203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Aplicación de escritorio con login, registro y tabla de incidencias</a:t>
            </a:r>
            <a:endParaRPr lang="en-US" sz="1400"/>
          </a:p>
        </p:txBody>
      </p:sp>
      <p:sp>
        <p:nvSpPr>
          <p:cNvPr id="17" name="Shape 10"/>
          <p:cNvSpPr/>
          <p:nvPr/>
        </p:nvSpPr>
        <p:spPr>
          <a:xfrm>
            <a:off x="793790" y="6511171"/>
            <a:ext cx="7556421" cy="934283"/>
          </a:xfrm>
          <a:prstGeom prst="roundRect">
            <a:avLst>
              <a:gd name="adj" fmla="val 2913"/>
            </a:avLst>
          </a:prstGeom>
          <a:solidFill>
            <a:srgbClr val="C9DDE9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41" y="6762036"/>
            <a:ext cx="226814" cy="18145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83506" y="6701671"/>
            <a:ext cx="678525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backend Android muestra una idea importante:</a:t>
            </a:r>
            <a:r>
              <a:rPr lang="en-US" sz="140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Sincronización online con API y apoyo local con Room cuando la conexión falla.</a:t>
            </a:r>
            <a:endParaRPr lang="en-US" sz="140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187" y="542687"/>
            <a:ext cx="353425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Módulo Android · SimaGrow</a:t>
            </a:r>
            <a:endParaRPr lang="en-US" sz="2000">
              <a:latin typeface="MuseoModerno Medium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5187" y="949404"/>
            <a:ext cx="13540026" cy="11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Cliente móvil construido en Kotlin con interfaz Material, Room y Retrofit.</a:t>
            </a:r>
            <a:endParaRPr lang="en-US" sz="1600">
              <a:latin typeface="Source Sans 3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0587" y="1654929"/>
            <a:ext cx="2165509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Características principales</a:t>
            </a:r>
            <a:endParaRPr lang="en-US" sz="1400">
              <a:latin typeface="MuseoModerno Medium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2487" y="1947069"/>
            <a:ext cx="4578429" cy="95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rtl="0">
              <a:buFont typeface="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Login y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registro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de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usuarios</a:t>
            </a:r>
            <a:r>
              <a:rPr lang="en-US" sz="1400">
                <a:latin typeface="Source Sans 3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Formulario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de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incidencias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con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tipo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, zona,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descripción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y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fecha</a:t>
            </a:r>
            <a:r>
              <a:rPr lang="en-US" sz="1400">
                <a:latin typeface="Source Sans 3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Listado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de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incidencias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por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alumno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o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profesor</a:t>
            </a:r>
            <a:r>
              <a:rPr lang="en-US" sz="1400">
                <a:latin typeface="Source Sans 3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Persistencia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local con Room y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sincronización</a:t>
            </a:r>
            <a:r>
              <a:rPr lang="en-US" sz="1400">
                <a:solidFill>
                  <a:srgbClr val="2B4150"/>
                </a:solidFill>
                <a:latin typeface="Source Sans 3"/>
                <a:ea typeface="Arial"/>
                <a:cs typeface="Arial"/>
              </a:rPr>
              <a:t> con APIREST</a:t>
            </a:r>
            <a:endParaRPr lang="en-US" sz="1400">
              <a:solidFill>
                <a:srgbClr val="2B4150"/>
              </a:solidFill>
              <a:latin typeface="Source Sans 3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7887" y="3660775"/>
            <a:ext cx="2150983" cy="10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Implementación técnica</a:t>
            </a:r>
            <a:endParaRPr lang="en-US" sz="1400">
              <a:latin typeface="MuseoModerno Medium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7887" y="3950137"/>
            <a:ext cx="4573826" cy="1915478"/>
          </a:xfrm>
          <a:prstGeom prst="roundRect">
            <a:avLst>
              <a:gd name="adj" fmla="val 673"/>
            </a:avLst>
          </a:prstGeom>
          <a:solidFill>
            <a:srgbClr val="F2EFE8"/>
          </a:solidFill>
          <a:ln/>
        </p:spPr>
      </p:sp>
      <p:sp>
        <p:nvSpPr>
          <p:cNvPr id="9" name="Shape 6"/>
          <p:cNvSpPr/>
          <p:nvPr/>
        </p:nvSpPr>
        <p:spPr>
          <a:xfrm>
            <a:off x="552887" y="3950137"/>
            <a:ext cx="4583827" cy="1915478"/>
          </a:xfrm>
          <a:prstGeom prst="roundRect">
            <a:avLst>
              <a:gd name="adj" fmla="val 673"/>
            </a:avLst>
          </a:prstGeom>
          <a:solidFill>
            <a:srgbClr val="F2EFE8"/>
          </a:solidFill>
          <a:ln/>
        </p:spPr>
      </p:sp>
      <p:sp>
        <p:nvSpPr>
          <p:cNvPr id="10" name="Text 7"/>
          <p:cNvSpPr/>
          <p:nvPr/>
        </p:nvSpPr>
        <p:spPr>
          <a:xfrm>
            <a:off x="565190" y="3949779"/>
            <a:ext cx="4571921" cy="191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interface SimaGrowApi {
    @GET("incidencias/{nia}")
    suspend fun getIncidencias(
        @Path("nia") nia: Int
    ): List
    @POST("incidencias")
    suspend fun crearIncidencia(
        @Body nombre: RequestBody,
        @Query("tipo") tipo: String,
        @Query("zona") zona: String,
        @Query("descripcion") descripcion: String,
        @Query("fecha") fecha: String,
        @Query("alumnoNIA") alumnoNIA: Int,
        @Query("estado") estado: String
    ): Response
}</a:t>
            </a:r>
            <a:r>
              <a:rPr lang="en-US" sz="75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</a:t>
            </a:r>
            <a:endParaRPr lang="en-US" sz="750">
              <a:latin typeface="Consola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2387" y="6321995"/>
            <a:ext cx="1650139" cy="28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31</a:t>
            </a:r>
            <a:endParaRPr lang="en-US" sz="2600"/>
          </a:p>
        </p:txBody>
      </p:sp>
      <p:sp>
        <p:nvSpPr>
          <p:cNvPr id="12" name="Text 9"/>
          <p:cNvSpPr/>
          <p:nvPr/>
        </p:nvSpPr>
        <p:spPr>
          <a:xfrm>
            <a:off x="433393" y="6716749"/>
            <a:ext cx="956876" cy="1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Archivos Kotlin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-320063" y="6890016"/>
            <a:ext cx="2535158" cy="10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Componentes principales</a:t>
            </a:r>
            <a:endParaRPr lang="en-US" sz="750"/>
          </a:p>
        </p:txBody>
      </p:sp>
      <p:sp>
        <p:nvSpPr>
          <p:cNvPr id="14" name="Text 11"/>
          <p:cNvSpPr/>
          <p:nvPr/>
        </p:nvSpPr>
        <p:spPr>
          <a:xfrm>
            <a:off x="1633326" y="6321996"/>
            <a:ext cx="1650139" cy="28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19</a:t>
            </a:r>
            <a:endParaRPr lang="en-US" sz="2600"/>
          </a:p>
        </p:txBody>
      </p:sp>
      <p:sp>
        <p:nvSpPr>
          <p:cNvPr id="15" name="Text 12"/>
          <p:cNvSpPr/>
          <p:nvPr/>
        </p:nvSpPr>
        <p:spPr>
          <a:xfrm>
            <a:off x="1968082" y="6752376"/>
            <a:ext cx="968751" cy="1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Layouts XML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1179001" y="6937518"/>
            <a:ext cx="2535158" cy="10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de interfaz</a:t>
            </a:r>
            <a:endParaRPr lang="en-US" sz="750"/>
          </a:p>
        </p:txBody>
      </p:sp>
      <p:sp>
        <p:nvSpPr>
          <p:cNvPr id="17" name="Text 14"/>
          <p:cNvSpPr/>
          <p:nvPr/>
        </p:nvSpPr>
        <p:spPr>
          <a:xfrm>
            <a:off x="3369896" y="6321995"/>
            <a:ext cx="1650139" cy="28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9</a:t>
            </a:r>
            <a:endParaRPr lang="en-US" sz="2600"/>
          </a:p>
        </p:txBody>
      </p:sp>
      <p:sp>
        <p:nvSpPr>
          <p:cNvPr id="18" name="Text 15"/>
          <p:cNvSpPr/>
          <p:nvPr/>
        </p:nvSpPr>
        <p:spPr>
          <a:xfrm>
            <a:off x="3716527" y="6716749"/>
            <a:ext cx="956876" cy="1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Fragments</a:t>
            </a:r>
            <a:endParaRPr lang="en-US" sz="950"/>
          </a:p>
        </p:txBody>
      </p:sp>
      <p:sp>
        <p:nvSpPr>
          <p:cNvPr id="19" name="Text 16"/>
          <p:cNvSpPr/>
          <p:nvPr/>
        </p:nvSpPr>
        <p:spPr>
          <a:xfrm>
            <a:off x="2927446" y="6890016"/>
            <a:ext cx="2535158" cy="10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Vistas modulares</a:t>
            </a:r>
            <a:endParaRPr lang="en-US" sz="750"/>
          </a:p>
        </p:txBody>
      </p:sp>
      <p:sp>
        <p:nvSpPr>
          <p:cNvPr id="20" name="Text 17"/>
          <p:cNvSpPr/>
          <p:nvPr/>
        </p:nvSpPr>
        <p:spPr>
          <a:xfrm>
            <a:off x="4904585" y="6321995"/>
            <a:ext cx="1650139" cy="28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2600"/>
          </a:p>
        </p:txBody>
      </p:sp>
      <p:sp>
        <p:nvSpPr>
          <p:cNvPr id="21" name="Text 18"/>
          <p:cNvSpPr/>
          <p:nvPr/>
        </p:nvSpPr>
        <p:spPr>
          <a:xfrm>
            <a:off x="5251216" y="6657372"/>
            <a:ext cx="956876" cy="1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Entidades Room</a:t>
            </a:r>
            <a:endParaRPr lang="en-US" sz="950"/>
          </a:p>
        </p:txBody>
      </p:sp>
      <p:sp>
        <p:nvSpPr>
          <p:cNvPr id="22" name="Text 19"/>
          <p:cNvSpPr/>
          <p:nvPr/>
        </p:nvSpPr>
        <p:spPr>
          <a:xfrm>
            <a:off x="4462135" y="6878140"/>
            <a:ext cx="2535158" cy="10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Persistencia local</a:t>
            </a:r>
            <a:endParaRPr lang="en-US" sz="750"/>
          </a:p>
        </p:txBody>
      </p:sp>
      <p:sp>
        <p:nvSpPr>
          <p:cNvPr id="23" name="Text 20"/>
          <p:cNvSpPr/>
          <p:nvPr/>
        </p:nvSpPr>
        <p:spPr>
          <a:xfrm>
            <a:off x="570587" y="7449780"/>
            <a:ext cx="13540026" cy="11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La app combina almacenamiento local y acceso al servidor, una decisión útil para demostrar persistencia y sincronización en DAM.</a:t>
            </a:r>
            <a:endParaRPr lang="en-US" sz="1400">
              <a:latin typeface="Source Sans 3"/>
              <a:ea typeface="Calibri"/>
              <a:cs typeface="Calibri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EC466DB-DD57-5DA3-75AE-2FDC77D22870}"/>
              </a:ext>
            </a:extLst>
          </p:cNvPr>
          <p:cNvSpPr/>
          <p:nvPr/>
        </p:nvSpPr>
        <p:spPr>
          <a:xfrm>
            <a:off x="-754" y="77258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6577C218-F085-5F15-C857-8033B2AAA688}"/>
              </a:ext>
            </a:extLst>
          </p:cNvPr>
          <p:cNvSpPr/>
          <p:nvPr/>
        </p:nvSpPr>
        <p:spPr>
          <a:xfrm>
            <a:off x="-754" y="42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pic>
        <p:nvPicPr>
          <p:cNvPr id="24" name="Imagen 2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206B1DD-E986-AFF8-FF36-622BDE750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740" y="546100"/>
            <a:ext cx="3703320" cy="6733474"/>
          </a:xfrm>
          <a:prstGeom prst="rect">
            <a:avLst/>
          </a:prstGeom>
        </p:spPr>
      </p:pic>
      <p:pic>
        <p:nvPicPr>
          <p:cNvPr id="25" name="Imagen 2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6E04738-58ED-1738-84ED-C94C0C03B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1640" y="546100"/>
            <a:ext cx="3703320" cy="6733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60" y="616347"/>
            <a:ext cx="3218894" cy="31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Módulo ADT · Spring Boot</a:t>
            </a:r>
            <a:endParaRPr lang="en-US" sz="2000">
              <a:latin typeface="MuseoModerno Medium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0991" y="1024670"/>
            <a:ext cx="13751481" cy="8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"/>
              </a:lnSpc>
            </a:pPr>
            <a:r>
              <a:rPr lang="en-US" sz="1400" dirty="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API REST</a:t>
            </a:r>
            <a:r>
              <a:rPr lang="en-US" sz="1400" dirty="0">
                <a:solidFill>
                  <a:srgbClr val="2B4150"/>
                </a:solidFill>
                <a:latin typeface="Calibri"/>
                <a:ea typeface="Calibri"/>
                <a:cs typeface="Calibri"/>
              </a:rPr>
              <a:t>  </a:t>
            </a:r>
            <a:r>
              <a:rPr lang="en-US" sz="1400" dirty="0" err="1">
                <a:solidFill>
                  <a:srgbClr val="2B4150"/>
                </a:solidFill>
                <a:ea typeface="+mn-lt"/>
                <a:cs typeface="+mn-lt"/>
              </a:rPr>
              <a:t>centro</a:t>
            </a:r>
            <a:r>
              <a:rPr lang="en-US" sz="1400" dirty="0">
                <a:solidFill>
                  <a:srgbClr val="2B4150"/>
                </a:solidFill>
                <a:ea typeface="+mn-lt"/>
                <a:cs typeface="+mn-lt"/>
              </a:rPr>
              <a:t> de </a:t>
            </a:r>
            <a:r>
              <a:rPr lang="en-US" sz="1400" dirty="0" err="1">
                <a:solidFill>
                  <a:srgbClr val="2B4150"/>
                </a:solidFill>
                <a:ea typeface="+mn-lt"/>
                <a:cs typeface="+mn-lt"/>
              </a:rPr>
              <a:t>toda</a:t>
            </a:r>
            <a:r>
              <a:rPr lang="en-US" sz="1400" dirty="0">
                <a:solidFill>
                  <a:srgbClr val="2B4150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2B4150"/>
                </a:solidFill>
                <a:ea typeface="+mn-lt"/>
                <a:cs typeface="+mn-lt"/>
              </a:rPr>
              <a:t>comunicación</a:t>
            </a:r>
            <a:r>
              <a:rPr lang="en-US" sz="1400" dirty="0">
                <a:solidFill>
                  <a:srgbClr val="2B4150"/>
                </a:solidFill>
                <a:ea typeface="+mn-lt"/>
                <a:cs typeface="+mn-lt"/>
              </a:rPr>
              <a:t>.</a:t>
            </a:r>
            <a:endParaRPr lang="en-US" sz="1400" dirty="0">
              <a:solidFill>
                <a:srgbClr val="2B41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9460" y="1220805"/>
            <a:ext cx="1617028" cy="216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Capas</a:t>
            </a:r>
            <a:r>
              <a:rPr lang="en-US" sz="120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del backend</a:t>
            </a:r>
            <a:endParaRPr lang="en-US" sz="1200" dirty="0">
              <a:latin typeface="MuseoModerno Medium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9460" y="1430355"/>
            <a:ext cx="1718905" cy="396835"/>
          </a:xfrm>
          <a:prstGeom prst="roundRect">
            <a:avLst>
              <a:gd name="adj" fmla="val 3085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41584" y="1557038"/>
            <a:ext cx="114657" cy="143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39923" y="1499213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 err="1">
                <a:solidFill>
                  <a:srgbClr val="2B4150"/>
                </a:solidFill>
                <a:latin typeface="MuseoModerno Medium"/>
                <a:ea typeface="Calibri"/>
                <a:cs typeface="Calibri"/>
              </a:rPr>
              <a:t>Modelos</a:t>
            </a:r>
          </a:p>
        </p:txBody>
      </p:sp>
      <p:sp>
        <p:nvSpPr>
          <p:cNvPr id="9" name="Shape 7"/>
          <p:cNvSpPr/>
          <p:nvPr/>
        </p:nvSpPr>
        <p:spPr>
          <a:xfrm>
            <a:off x="2199084" y="1829096"/>
            <a:ext cx="11951137" cy="3810"/>
          </a:xfrm>
          <a:prstGeom prst="roundRect">
            <a:avLst>
              <a:gd name="adj" fmla="val 321324"/>
            </a:avLst>
          </a:prstGeom>
          <a:solidFill>
            <a:srgbClr val="D9D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39460" y="1867910"/>
            <a:ext cx="3437811" cy="396835"/>
          </a:xfrm>
          <a:prstGeom prst="roundRect">
            <a:avLst>
              <a:gd name="adj" fmla="val 3085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2100977" y="1994592"/>
            <a:ext cx="114657" cy="143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43938" y="1936768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</a:rPr>
              <a:t>Service</a:t>
            </a:r>
            <a:endParaRPr lang="en-US" sz="1200" dirty="0">
              <a:solidFill>
                <a:srgbClr val="2B4150"/>
              </a:solidFill>
              <a:latin typeface="MuseoModerno Medium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37807" y="2126017"/>
            <a:ext cx="1819513" cy="8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"/>
              </a:lnSpc>
            </a:pP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Capa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más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básica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de Spring Boot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donde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se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hacen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validaciones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y se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aplica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 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lógica</a:t>
            </a:r>
          </a:p>
        </p:txBody>
      </p:sp>
      <p:sp>
        <p:nvSpPr>
          <p:cNvPr id="14" name="Shape 12"/>
          <p:cNvSpPr/>
          <p:nvPr/>
        </p:nvSpPr>
        <p:spPr>
          <a:xfrm>
            <a:off x="3917990" y="2266650"/>
            <a:ext cx="10232231" cy="3810"/>
          </a:xfrm>
          <a:prstGeom prst="roundRect">
            <a:avLst>
              <a:gd name="adj" fmla="val 321324"/>
            </a:avLst>
          </a:prstGeom>
          <a:solidFill>
            <a:srgbClr val="D9D4C9"/>
          </a:solidFill>
          <a:ln/>
        </p:spPr>
      </p:sp>
      <p:sp>
        <p:nvSpPr>
          <p:cNvPr id="15" name="Shape 13"/>
          <p:cNvSpPr/>
          <p:nvPr/>
        </p:nvSpPr>
        <p:spPr>
          <a:xfrm>
            <a:off x="439460" y="2305465"/>
            <a:ext cx="5156716" cy="396835"/>
          </a:xfrm>
          <a:prstGeom prst="roundRect">
            <a:avLst>
              <a:gd name="adj" fmla="val 3085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2960489" y="2432147"/>
            <a:ext cx="114657" cy="143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200">
              <a:latin typeface="MuseoModerno Mediu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77733" y="2311259"/>
            <a:ext cx="2102693" cy="19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200" dirty="0" err="1">
                <a:solidFill>
                  <a:srgbClr val="2B4150"/>
                </a:solidFill>
                <a:latin typeface="MuseoModerno Medium"/>
              </a:rPr>
              <a:t>Repositorio</a:t>
            </a:r>
          </a:p>
        </p:txBody>
      </p:sp>
      <p:sp>
        <p:nvSpPr>
          <p:cNvPr id="18" name="Text 16"/>
          <p:cNvSpPr/>
          <p:nvPr/>
        </p:nvSpPr>
        <p:spPr>
          <a:xfrm>
            <a:off x="5677733" y="2532041"/>
            <a:ext cx="1248728" cy="8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"/>
              </a:lnSpc>
            </a:pP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Interfaces de Spring Boot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que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contienen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 lo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que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deseamos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hacer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 con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los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modelos</a:t>
            </a:r>
          </a:p>
        </p:txBody>
      </p:sp>
      <p:sp>
        <p:nvSpPr>
          <p:cNvPr id="19" name="Shape 17"/>
          <p:cNvSpPr/>
          <p:nvPr/>
        </p:nvSpPr>
        <p:spPr>
          <a:xfrm>
            <a:off x="5636895" y="2704205"/>
            <a:ext cx="8513326" cy="3810"/>
          </a:xfrm>
          <a:prstGeom prst="roundRect">
            <a:avLst>
              <a:gd name="adj" fmla="val 321324"/>
            </a:avLst>
          </a:prstGeom>
          <a:solidFill>
            <a:srgbClr val="D9D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460" y="2743019"/>
            <a:ext cx="6875740" cy="396835"/>
          </a:xfrm>
          <a:prstGeom prst="roundRect">
            <a:avLst>
              <a:gd name="adj" fmla="val 3085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3820001" y="2869702"/>
            <a:ext cx="114657" cy="143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200">
              <a:latin typeface="MuseoModerno Medium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96758" y="2811877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Calibri"/>
                <a:cs typeface="Calibri"/>
              </a:rPr>
              <a:t>Controllers</a:t>
            </a:r>
            <a:endParaRPr lang="en-US" sz="1200" dirty="0">
              <a:solidFill>
                <a:srgbClr val="2B4150"/>
              </a:solidFill>
              <a:latin typeface="MuseoModerno Medium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96757" y="3011637"/>
            <a:ext cx="5662839" cy="13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"/>
              </a:lnSpc>
            </a:pPr>
            <a:r>
              <a:rPr lang="en-US" sz="1200" dirty="0">
                <a:solidFill>
                  <a:srgbClr val="2B4150"/>
                </a:solidFill>
                <a:latin typeface="Source Sans 3"/>
              </a:rPr>
              <a:t>Capa externa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que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tiene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los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endpoints y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mediante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estos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se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conectan</a:t>
            </a:r>
            <a:r>
              <a:rPr lang="en-US" sz="1200" dirty="0">
                <a:solidFill>
                  <a:srgbClr val="2B4150"/>
                </a:solidFill>
                <a:latin typeface="Source Sans 3"/>
              </a:rPr>
              <a:t> las </a:t>
            </a:r>
            <a:r>
              <a:rPr lang="en-US" sz="1200" dirty="0" err="1">
                <a:solidFill>
                  <a:srgbClr val="2B4150"/>
                </a:solidFill>
                <a:latin typeface="Source Sans 3"/>
              </a:rPr>
              <a:t>aplicaciones</a:t>
            </a:r>
            <a:endParaRPr lang="es-ES" dirty="0" err="1"/>
          </a:p>
        </p:txBody>
      </p:sp>
      <p:sp>
        <p:nvSpPr>
          <p:cNvPr id="24" name="Text 22"/>
          <p:cNvSpPr/>
          <p:nvPr/>
        </p:nvSpPr>
        <p:spPr>
          <a:xfrm>
            <a:off x="624266" y="3538016"/>
            <a:ext cx="1469008" cy="215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Controller</a:t>
            </a:r>
            <a:endParaRPr lang="en-US" sz="1200">
              <a:solidFill>
                <a:srgbClr val="124E73"/>
              </a:solidFill>
              <a:latin typeface="MuseoModerno Medium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3067" y="3913100"/>
            <a:ext cx="3126701" cy="2546350"/>
          </a:xfrm>
          <a:prstGeom prst="roundRect">
            <a:avLst>
              <a:gd name="adj" fmla="val 1115"/>
            </a:avLst>
          </a:prstGeom>
          <a:solidFill>
            <a:srgbClr val="F2EFE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044" y="3917806"/>
            <a:ext cx="3307362" cy="245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600">
              <a:solidFill>
                <a:srgbClr val="000000"/>
              </a:solidFill>
              <a:latin typeface="Consolas" pitchFamily="34" charset="-122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@RequestMapping("/incidencias")</a:t>
            </a:r>
            <a:endParaRPr lang="en-US" sz="6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public class </a:t>
            </a:r>
            <a:r>
              <a:rPr lang="en-US" sz="1000" dirty="0" err="1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IncidenciaController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 {</a:t>
            </a:r>
            <a:endParaRPr lang="en-US" sz="600" dirty="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    @GetMapping
    public </a:t>
            </a:r>
            <a:r>
              <a:rPr lang="en-US" sz="1000" dirty="0" err="1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ResponseEntity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000" dirty="0" err="1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listar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(){...}
    @DeleteMapping("/eliminar/{id}")</a:t>
            </a:r>
            <a:endParaRPr lang="en-US" sz="600" dirty="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    public </a:t>
            </a:r>
            <a:r>
              <a:rPr lang="en-US" sz="1000" dirty="0" err="1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ResponseEntity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eliminar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600" dirty="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        @PathVariable Integer id){...}</a:t>
            </a:r>
            <a:r>
              <a:rPr lang="en-US" sz="10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6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 pitchFamily="34" charset="-122"/>
                <a:cs typeface="Consolas" pitchFamily="34" charset="-120"/>
              </a:rPr>
              <a:t>
</a:t>
            </a:r>
            <a:endParaRPr lang="en-US" sz="600" dirty="0">
              <a:latin typeface="Consola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75821" y="3559037"/>
            <a:ext cx="1572797" cy="215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200" dirty="0" err="1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Tecnologías</a:t>
            </a:r>
            <a:r>
              <a:rPr lang="en-US" sz="1200" dirty="0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usadas</a:t>
            </a:r>
            <a:endParaRPr lang="es-E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65509" y="3930180"/>
            <a:ext cx="1939030" cy="1086331"/>
          </a:xfrm>
          <a:prstGeom prst="roundRect">
            <a:avLst>
              <a:gd name="adj" fmla="val 960"/>
            </a:avLst>
          </a:prstGeom>
          <a:solidFill>
            <a:srgbClr val="F2EFE8"/>
          </a:solidFill>
          <a:ln/>
        </p:spPr>
      </p:sp>
      <p:sp>
        <p:nvSpPr>
          <p:cNvPr id="31" name="Text 29"/>
          <p:cNvSpPr/>
          <p:nvPr/>
        </p:nvSpPr>
        <p:spPr>
          <a:xfrm>
            <a:off x="4199617" y="3938827"/>
            <a:ext cx="1712854" cy="109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Java</a:t>
            </a:r>
            <a:endParaRPr lang="en-US" sz="1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Spring Boot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Spring Data JPA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Hibernate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Maven</a:t>
            </a:r>
            <a:endParaRPr lang="en-US" sz="1200">
              <a:latin typeface="Consolas"/>
              <a:ea typeface="Calibri"/>
              <a:cs typeface="Calibri"/>
            </a:endParaRPr>
          </a:p>
          <a:p>
            <a:endParaRPr lang="en-US" sz="600" dirty="0">
              <a:solidFill>
                <a:srgbClr val="2B4150"/>
              </a:solidFill>
              <a:highlight>
                <a:srgbClr val="F2EFE8"/>
              </a:highlight>
              <a:latin typeface="Consola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54355" y="6916176"/>
            <a:ext cx="1003816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600"/>
          </a:p>
        </p:txBody>
      </p:sp>
      <p:sp>
        <p:nvSpPr>
          <p:cNvPr id="34" name="Text 31"/>
          <p:cNvSpPr/>
          <p:nvPr/>
        </p:nvSpPr>
        <p:spPr>
          <a:xfrm>
            <a:off x="7635749" y="7396183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Controladores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734804" y="6926687"/>
            <a:ext cx="1003816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</a:t>
            </a:r>
            <a:endParaRPr lang="en-US" sz="1600"/>
          </a:p>
        </p:txBody>
      </p:sp>
      <p:sp>
        <p:nvSpPr>
          <p:cNvPr id="37" name="Text 33"/>
          <p:cNvSpPr/>
          <p:nvPr/>
        </p:nvSpPr>
        <p:spPr>
          <a:xfrm>
            <a:off x="2716198" y="7406694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Services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5110852" y="6935661"/>
            <a:ext cx="1003816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600"/>
          </a:p>
        </p:txBody>
      </p:sp>
      <p:sp>
        <p:nvSpPr>
          <p:cNvPr id="40" name="Text 35"/>
          <p:cNvSpPr/>
          <p:nvPr/>
        </p:nvSpPr>
        <p:spPr>
          <a:xfrm>
            <a:off x="5092246" y="7415668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Repositorios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10270721" y="6935661"/>
            <a:ext cx="1003816" cy="203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600"/>
          </a:p>
        </p:txBody>
      </p:sp>
      <p:sp>
        <p:nvSpPr>
          <p:cNvPr id="43" name="Text 37"/>
          <p:cNvSpPr/>
          <p:nvPr/>
        </p:nvSpPr>
        <p:spPr>
          <a:xfrm>
            <a:off x="10252115" y="7415668"/>
            <a:ext cx="1020128" cy="12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Entidades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CFF0C9D2-CC2E-7305-597E-1EB7C33E2998}"/>
              </a:ext>
            </a:extLst>
          </p:cNvPr>
          <p:cNvSpPr/>
          <p:nvPr/>
        </p:nvSpPr>
        <p:spPr>
          <a:xfrm>
            <a:off x="-754" y="77258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F51426BD-06B9-EFCD-F491-C95EFB8EF3F7}"/>
              </a:ext>
            </a:extLst>
          </p:cNvPr>
          <p:cNvSpPr/>
          <p:nvPr/>
        </p:nvSpPr>
        <p:spPr>
          <a:xfrm>
            <a:off x="-754" y="42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13B99CC-7C75-EA59-0929-A9053A069E59}"/>
              </a:ext>
            </a:extLst>
          </p:cNvPr>
          <p:cNvSpPr/>
          <p:nvPr/>
        </p:nvSpPr>
        <p:spPr>
          <a:xfrm>
            <a:off x="2235130" y="1705602"/>
            <a:ext cx="1819513" cy="8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"/>
              </a:lnSpc>
            </a:pP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Espacios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,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usuarios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 e </a:t>
            </a:r>
            <a:r>
              <a:rPr lang="en-US" sz="1200" dirty="0" err="1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incidencias</a:t>
            </a:r>
            <a:r>
              <a:rPr lang="en-US" sz="1200" dirty="0">
                <a:solidFill>
                  <a:srgbClr val="2B4150"/>
                </a:solidFill>
                <a:latin typeface="Source Sans 3"/>
                <a:ea typeface="Calibri"/>
                <a:cs typeface="Calibri"/>
              </a:rPr>
              <a:t>.</a:t>
            </a:r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9F7DCFFF-F4BE-BC9D-C686-76A585FD69E3}"/>
              </a:ext>
            </a:extLst>
          </p:cNvPr>
          <p:cNvSpPr/>
          <p:nvPr/>
        </p:nvSpPr>
        <p:spPr>
          <a:xfrm>
            <a:off x="7754744" y="3548525"/>
            <a:ext cx="2697403" cy="22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200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Funciones principales</a:t>
            </a:r>
            <a:endParaRPr lang="es-E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D0008415-6792-06FB-4C6C-1DF0FFEB29B0}"/>
              </a:ext>
            </a:extLst>
          </p:cNvPr>
          <p:cNvSpPr/>
          <p:nvPr/>
        </p:nvSpPr>
        <p:spPr>
          <a:xfrm>
            <a:off x="6356763" y="3909157"/>
            <a:ext cx="7278285" cy="949696"/>
          </a:xfrm>
          <a:prstGeom prst="roundRect">
            <a:avLst>
              <a:gd name="adj" fmla="val 960"/>
            </a:avLst>
          </a:prstGeom>
          <a:solidFill>
            <a:srgbClr val="F2EFE8"/>
          </a:solidFill>
          <a:ln/>
        </p:spPr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C78CCC81-CCE7-D1BA-1ABE-A1AAF084D413}"/>
              </a:ext>
            </a:extLst>
          </p:cNvPr>
          <p:cNvSpPr/>
          <p:nvPr/>
        </p:nvSpPr>
        <p:spPr>
          <a:xfrm>
            <a:off x="6459340" y="3917805"/>
            <a:ext cx="7073128" cy="953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Arial"/>
              <a:buChar char="•"/>
            </a:pP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Autenticación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Validación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de </a:t>
            </a:r>
            <a:r>
              <a:rPr lang="en-US" sz="120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credenciales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para </a:t>
            </a:r>
            <a:r>
              <a:rPr lang="en-US" sz="120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el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acceso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 sz="1200" dirty="0">
              <a:solidFill>
                <a:srgbClr val="000000"/>
              </a:solidFill>
              <a:latin typeface="Consolas" pitchFamily="34" charset="-122"/>
              <a:ea typeface="Consolas" pitchFamily="34" charset="-122"/>
              <a:cs typeface="Consolas" pitchFamily="34" charset="-120"/>
            </a:endParaRPr>
          </a:p>
          <a:p>
            <a:pPr>
              <a:buFont typeface="Arial"/>
              <a:buChar char="•"/>
            </a:pP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Persistencia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Repositorio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central de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datos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persistentes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Arquitectura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en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Capas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Estructura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siguiendo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el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patrón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Controller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-&gt; 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Service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-&gt; 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+mn-lt"/>
                <a:cs typeface="+mn-lt"/>
              </a:rPr>
              <a:t>Repository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RESTful API: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Comunicación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mediante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JSON para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conectarse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con Android y QT.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1200" dirty="0">
              <a:solidFill>
                <a:srgbClr val="2B4150"/>
              </a:solidFill>
              <a:highlight>
                <a:srgbClr val="F2EFE8"/>
              </a:highlight>
              <a:latin typeface="Consolas"/>
              <a:ea typeface="Calibri"/>
              <a:cs typeface="Calibri"/>
            </a:endParaRPr>
          </a:p>
          <a:p>
            <a:endParaRPr lang="en-US" sz="600" dirty="0">
              <a:solidFill>
                <a:srgbClr val="2B4150"/>
              </a:solidFill>
              <a:highlight>
                <a:srgbClr val="F2EFE8"/>
              </a:highlight>
              <a:latin typeface="Consolas"/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BC236D53-3C60-B7C3-446E-3A0633A3E3DC}"/>
              </a:ext>
            </a:extLst>
          </p:cNvPr>
          <p:cNvSpPr/>
          <p:nvPr/>
        </p:nvSpPr>
        <p:spPr>
          <a:xfrm>
            <a:off x="6546055" y="5104057"/>
            <a:ext cx="1709431" cy="1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200" dirty="0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Gestion de </a:t>
            </a:r>
            <a:r>
              <a:rPr lang="en-US" sz="1200" dirty="0" err="1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Recursos</a:t>
            </a: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4F7E3D06-908F-EFB5-6487-D42E6BAB4FA8}"/>
              </a:ext>
            </a:extLst>
          </p:cNvPr>
          <p:cNvSpPr/>
          <p:nvPr/>
        </p:nvSpPr>
        <p:spPr>
          <a:xfrm>
            <a:off x="11012951" y="5062016"/>
            <a:ext cx="1572797" cy="215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200" dirty="0" err="1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Seguridad</a:t>
            </a:r>
            <a:r>
              <a:rPr lang="en-US" sz="1200" dirty="0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 y </a:t>
            </a:r>
            <a:r>
              <a:rPr lang="en-US" sz="1200" dirty="0" err="1">
                <a:solidFill>
                  <a:srgbClr val="124E73"/>
                </a:solidFill>
                <a:latin typeface="MuseoModerno Medium"/>
                <a:ea typeface="Calibri"/>
                <a:cs typeface="Calibri"/>
              </a:rPr>
              <a:t>acceso</a:t>
            </a:r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6BD46B74-D936-9697-3ECB-F2631ABF3889}"/>
              </a:ext>
            </a:extLst>
          </p:cNvPr>
          <p:cNvSpPr/>
          <p:nvPr/>
        </p:nvSpPr>
        <p:spPr>
          <a:xfrm>
            <a:off x="5736654" y="5359586"/>
            <a:ext cx="3305374" cy="1086331"/>
          </a:xfrm>
          <a:prstGeom prst="roundRect">
            <a:avLst>
              <a:gd name="adj" fmla="val 960"/>
            </a:avLst>
          </a:prstGeom>
          <a:solidFill>
            <a:srgbClr val="F2EFE8"/>
          </a:solidFill>
          <a:ln/>
        </p:spPr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CD342C29-85E0-0CAF-9107-8F33A0D3DE43}"/>
              </a:ext>
            </a:extLst>
          </p:cNvPr>
          <p:cNvSpPr/>
          <p:nvPr/>
        </p:nvSpPr>
        <p:spPr>
          <a:xfrm>
            <a:off x="5734127" y="5515377"/>
            <a:ext cx="3331447" cy="921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Arial"/>
              <a:buChar char="•"/>
            </a:pP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Auth Controller: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Gestión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registro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y login.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Comprobamos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la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identidad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del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usuario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Data Persistence: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Sincronización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entre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los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clientes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 y la base de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latin typeface="Calibri"/>
                <a:ea typeface="+mn-lt"/>
                <a:cs typeface="+mn-lt"/>
              </a:rPr>
              <a:t>datos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 dirty="0">
              <a:solidFill>
                <a:srgbClr val="2B4150"/>
              </a:solidFill>
              <a:highlight>
                <a:srgbClr val="F2EFE8"/>
              </a:highlight>
              <a:latin typeface="Calibri"/>
              <a:ea typeface="Calibri"/>
              <a:cs typeface="Calibri"/>
            </a:endParaRPr>
          </a:p>
          <a:p>
            <a:endParaRPr lang="en-US" sz="600" dirty="0">
              <a:solidFill>
                <a:srgbClr val="2B4150"/>
              </a:solidFill>
              <a:highlight>
                <a:srgbClr val="F2EFE8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3DB476BA-2DE7-CFE7-5A4D-47EE066E9908}"/>
              </a:ext>
            </a:extLst>
          </p:cNvPr>
          <p:cNvSpPr/>
          <p:nvPr/>
        </p:nvSpPr>
        <p:spPr>
          <a:xfrm>
            <a:off x="10108959" y="5317546"/>
            <a:ext cx="3294863" cy="1149392"/>
          </a:xfrm>
          <a:prstGeom prst="roundRect">
            <a:avLst>
              <a:gd name="adj" fmla="val 960"/>
            </a:avLst>
          </a:prstGeom>
          <a:solidFill>
            <a:srgbClr val="F2EFE8"/>
          </a:solidFill>
          <a:ln/>
        </p:spPr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784F9784-35BD-0C9E-71E5-70F4F365C2A0}"/>
              </a:ext>
            </a:extLst>
          </p:cNvPr>
          <p:cNvSpPr/>
          <p:nvPr/>
        </p:nvSpPr>
        <p:spPr>
          <a:xfrm>
            <a:off x="10285108" y="5515378"/>
            <a:ext cx="3026646" cy="92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Arial"/>
              <a:buChar char="•"/>
            </a:pP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CRUD </a:t>
            </a:r>
            <a:r>
              <a:rPr lang="en-US" sz="1200" i="1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completo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para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reportar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listar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gestionar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problemas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 sz="1200" dirty="0">
              <a:latin typeface="Consolas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Entidades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obligatorias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para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el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flujo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de </a:t>
            </a:r>
            <a:r>
              <a:rPr lang="en-US" sz="1200" i="1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sign-in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otros</a:t>
            </a:r>
            <a:r>
              <a:rPr lang="en-US" sz="1200" dirty="0">
                <a:solidFill>
                  <a:srgbClr val="2B4150"/>
                </a:solidFill>
                <a:highlight>
                  <a:srgbClr val="F2EFE8"/>
                </a:highlight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1200" dirty="0">
              <a:solidFill>
                <a:srgbClr val="2B4150"/>
              </a:solidFill>
              <a:highlight>
                <a:srgbClr val="F2EFE8"/>
              </a:highlight>
              <a:latin typeface="Consolas"/>
              <a:ea typeface="Calibri"/>
              <a:cs typeface="Calibri"/>
            </a:endParaRPr>
          </a:p>
          <a:p>
            <a:endParaRPr lang="en-US" sz="600" dirty="0">
              <a:solidFill>
                <a:srgbClr val="2B4150"/>
              </a:solidFill>
              <a:highlight>
                <a:srgbClr val="F2EFE8"/>
              </a:highlight>
              <a:latin typeface="Consolas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434" y="483632"/>
            <a:ext cx="285785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Módulo SGE · Odoo</a:t>
            </a:r>
            <a:endParaRPr lang="en-US" sz="2000">
              <a:latin typeface="MuseoModerno Medium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5434" y="955953"/>
            <a:ext cx="1339953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Addon propio sobre Odoo 18 para gestionar incidencias, espacios, usuarios y autenticación por token.</a:t>
            </a:r>
            <a:endParaRPr lang="en-US" sz="1200">
              <a:latin typeface="Source Sans 3"/>
              <a:ea typeface="Calibri"/>
              <a:cs typeface="Calibri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27" y="1223010"/>
            <a:ext cx="5597723" cy="3124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46973" y="1630259"/>
            <a:ext cx="2015022" cy="23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Qué</a:t>
            </a:r>
            <a:r>
              <a:rPr lang="en-US" sz="16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se </a:t>
            </a:r>
            <a:r>
              <a:rPr lang="en-US" sz="160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ve</a:t>
            </a:r>
            <a:r>
              <a:rPr lang="en-US" sz="16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0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en</a:t>
            </a:r>
            <a:r>
              <a:rPr lang="en-US" sz="16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Odoo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92604" y="2182883"/>
            <a:ext cx="4508540" cy="610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Módulo simagrow_core instalable como aplicación</a:t>
            </a:r>
            <a:endParaRPr lang="en-US" sz="1400">
              <a:latin typeface="Source Sans 3"/>
              <a:ea typeface="Calibri"/>
              <a:cs typeface="Calibri"/>
            </a:endParaRPr>
          </a:p>
          <a:p>
            <a:pPr>
              <a:lnSpc>
                <a:spcPts val="1050"/>
              </a:lnSpc>
              <a:buSzPct val="100000"/>
            </a:pPr>
            <a:endParaRPr lang="en-US" sz="1400">
              <a:solidFill>
                <a:srgbClr val="2B4150"/>
              </a:solidFill>
              <a:latin typeface="Source Sans 3" pitchFamily="34" charset="-122"/>
              <a:ea typeface="Source Sans 3" pitchFamily="34" charset="-122"/>
              <a:cs typeface="Source Sans 3" pitchFamily="34" charset="-120"/>
            </a:endParaRPr>
          </a:p>
          <a:p>
            <a:pPr marL="342900" indent="-342900">
              <a:lnSpc>
                <a:spcPts val="1050"/>
              </a:lnSpc>
              <a:buSzPct val="100000"/>
              <a:buChar char="•"/>
            </a:pPr>
            <a:endParaRPr lang="en-US" sz="1400">
              <a:solidFill>
                <a:srgbClr val="2B4150"/>
              </a:solidFill>
              <a:latin typeface="Source Sans 3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Modelos: incidencia, espai,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usuari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40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api_token</a:t>
            </a:r>
            <a:endParaRPr lang="en-US" sz="1400" err="1">
              <a:solidFill>
                <a:srgbClr val="2B4150"/>
              </a:solidFill>
              <a:latin typeface="Source Sans 3"/>
              <a:ea typeface="Calibri"/>
              <a:cs typeface="Calibri"/>
            </a:endParaRPr>
          </a:p>
          <a:p>
            <a:pPr marL="342900" indent="-342900">
              <a:lnSpc>
                <a:spcPts val="1050"/>
              </a:lnSpc>
              <a:buSzPct val="100000"/>
              <a:buChar char="•"/>
            </a:pPr>
            <a:endParaRPr lang="en-US" sz="1400">
              <a:solidFill>
                <a:srgbClr val="2B4150"/>
              </a:solidFill>
              <a:latin typeface="Source Sans 3" pitchFamily="34" charset="-122"/>
              <a:ea typeface="Source Sans 3" pitchFamily="34" charset="-122"/>
              <a:cs typeface="Source Sans 3" pitchFamily="34" charset="-120"/>
            </a:endParaRPr>
          </a:p>
          <a:p>
            <a:pPr marL="342900" indent="-342900">
              <a:lnSpc>
                <a:spcPts val="1050"/>
              </a:lnSpc>
              <a:buSzPct val="100000"/>
              <a:buChar char="•"/>
            </a:pPr>
            <a:endParaRPr lang="en-US" sz="1400">
              <a:solidFill>
                <a:srgbClr val="2B4150"/>
              </a:solidFill>
              <a:latin typeface="Source Sans 3" pitchFamily="34" charset="-122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Vistas XML y permisos de seguridad propios</a:t>
            </a:r>
            <a:endParaRPr lang="en-US" sz="1400">
              <a:latin typeface="Source Sans 3"/>
              <a:ea typeface="Calibri"/>
              <a:cs typeface="Calibri"/>
            </a:endParaRPr>
          </a:p>
          <a:p>
            <a:pPr marL="342900" indent="-342900">
              <a:lnSpc>
                <a:spcPts val="1050"/>
              </a:lnSpc>
              <a:buSzPct val="100000"/>
              <a:buChar char="•"/>
            </a:pPr>
            <a:endParaRPr lang="en-US" sz="1400">
              <a:solidFill>
                <a:srgbClr val="2B4150"/>
              </a:solidFill>
              <a:latin typeface="Source Sans 3"/>
              <a:ea typeface="Source Sans 3" pitchFamily="34" charset="-122"/>
              <a:cs typeface="Source Sans 3" pitchFamily="34" charset="-120"/>
            </a:endParaRPr>
          </a:p>
          <a:p>
            <a:pPr marL="342900" indent="-342900">
              <a:lnSpc>
                <a:spcPts val="1050"/>
              </a:lnSpc>
              <a:buSzPct val="100000"/>
              <a:buChar char="•"/>
            </a:pPr>
            <a:endParaRPr lang="en-US" sz="1400">
              <a:solidFill>
                <a:srgbClr val="2B4150"/>
              </a:solidFill>
              <a:latin typeface="Source Sans 3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Docker Compose con Odoo 18 + PostgreSQL 15</a:t>
            </a:r>
            <a:endParaRPr lang="en-US" sz="1400">
              <a:latin typeface="Source Sans 3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5434" y="4498300"/>
            <a:ext cx="1428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Modelo funcional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5434" y="4763214"/>
            <a:ext cx="4428173" cy="609719"/>
          </a:xfrm>
          <a:prstGeom prst="roundRect">
            <a:avLst>
              <a:gd name="adj" fmla="val 2812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4974" y="4892754"/>
            <a:ext cx="1428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Usuari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744974" y="5105876"/>
            <a:ext cx="416909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NIA, rol, hash de contraseña</a:t>
            </a:r>
            <a:endParaRPr lang="en-US" sz="900"/>
          </a:p>
        </p:txBody>
      </p:sp>
      <p:sp>
        <p:nvSpPr>
          <p:cNvPr id="11" name="Shape 8"/>
          <p:cNvSpPr/>
          <p:nvPr/>
        </p:nvSpPr>
        <p:spPr>
          <a:xfrm>
            <a:off x="5101114" y="4763214"/>
            <a:ext cx="4428173" cy="609719"/>
          </a:xfrm>
          <a:prstGeom prst="roundRect">
            <a:avLst>
              <a:gd name="adj" fmla="val 2812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0654" y="4892754"/>
            <a:ext cx="1428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Incidencia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5230654" y="5105876"/>
            <a:ext cx="416909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Tipo, zona, estado de seguimiento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9586793" y="4763214"/>
            <a:ext cx="4428173" cy="609719"/>
          </a:xfrm>
          <a:prstGeom prst="roundRect">
            <a:avLst>
              <a:gd name="adj" fmla="val 2812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16333" y="4892754"/>
            <a:ext cx="1428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Espai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9716333" y="5105876"/>
            <a:ext cx="416909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Zona y nombre del espacio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615434" y="5459254"/>
            <a:ext cx="1428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Valor</a:t>
            </a:r>
            <a:endParaRPr lang="en-US" sz="1100">
              <a:solidFill>
                <a:srgbClr val="124E73"/>
              </a:solidFill>
              <a:latin typeface="MuseoModerno Medium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5434" y="5724168"/>
            <a:ext cx="1339953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Demuestra extensión real de un ERP: modelos de negocio, seguridad, vistas y API para apps externas.</a:t>
            </a:r>
            <a:endParaRPr lang="en-US" sz="900"/>
          </a:p>
        </p:txBody>
      </p:sp>
      <p:sp>
        <p:nvSpPr>
          <p:cNvPr id="19" name="Shape 16"/>
          <p:cNvSpPr/>
          <p:nvPr/>
        </p:nvSpPr>
        <p:spPr>
          <a:xfrm>
            <a:off x="615434" y="5926455"/>
            <a:ext cx="13399532" cy="1821656"/>
          </a:xfrm>
          <a:prstGeom prst="roundRect">
            <a:avLst>
              <a:gd name="adj" fmla="val 941"/>
            </a:avLst>
          </a:prstGeom>
          <a:solidFill>
            <a:srgbClr val="F2EFE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719" y="5926455"/>
            <a:ext cx="13410962" cy="1821656"/>
          </a:xfrm>
          <a:prstGeom prst="roundRect">
            <a:avLst>
              <a:gd name="adj" fmla="val 941"/>
            </a:avLst>
          </a:prstGeom>
          <a:solidFill>
            <a:srgbClr val="F2EFE8"/>
          </a:solidFill>
          <a:ln/>
        </p:spPr>
      </p:sp>
      <p:sp>
        <p:nvSpPr>
          <p:cNvPr id="21" name="Text 18"/>
          <p:cNvSpPr/>
          <p:nvPr/>
        </p:nvSpPr>
        <p:spPr>
          <a:xfrm>
            <a:off x="724019" y="6012180"/>
            <a:ext cx="13182362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@http.route("/api/auth/login", type="http",
 auth="public", methods=["POST"], csrf=False)
def login(self, **kwargs):
 data = _get_json_body()
 nia = (data.get("nia") or "").strip()
 password = data.get("password") or ""
 usuari = request.env["simagrow.usuari"].sudo()
 .search([("nia", "=", nia)], limit=1)
 if not usuari or not usuari.check_password(password):
 return _json_response({"error": "Invalid credentials"}, 401)
</a:t>
            </a:r>
            <a:endParaRPr lang="en-US" sz="9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BA433E01-B090-C94C-1310-8632037A7124}"/>
              </a:ext>
            </a:extLst>
          </p:cNvPr>
          <p:cNvSpPr/>
          <p:nvPr/>
        </p:nvSpPr>
        <p:spPr>
          <a:xfrm>
            <a:off x="-754" y="77258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CEB7AE16-FC74-97DD-D34F-3FB53BE8712F}"/>
              </a:ext>
            </a:extLst>
          </p:cNvPr>
          <p:cNvSpPr/>
          <p:nvPr/>
        </p:nvSpPr>
        <p:spPr>
          <a:xfrm>
            <a:off x="-754" y="-23069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20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Módulo DI · Qt</a:t>
            </a:r>
            <a:endParaRPr lang="en-US" sz="3550"/>
          </a:p>
        </p:txBody>
      </p:sp>
      <p:sp>
        <p:nvSpPr>
          <p:cNvPr id="4" name="Text 1"/>
          <p:cNvSpPr/>
          <p:nvPr/>
        </p:nvSpPr>
        <p:spPr>
          <a:xfrm>
            <a:off x="6280190" y="1676638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 de escritorio en C++ con navegación por vistas y conexión HTTP al backend.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6280190" y="2246233"/>
            <a:ext cx="313777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Qué demuestra este módulo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280190" y="2674858"/>
            <a:ext cx="3556873" cy="2241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Interfaz de escritorio propia para login, registro y pantalla principal</a:t>
            </a:r>
            <a:endParaRPr lang="en-US" sz="140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Uso de QStackedWidget para cambiar entre vistas</a:t>
            </a:r>
            <a:endParaRPr lang="en-US" sz="140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QNetworkAccessManager para consumir el servidor</a:t>
            </a:r>
            <a:endParaRPr lang="en-US" sz="140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Tabla de incidencias y validación básica de datos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0287357" y="22462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Implementación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10287357" y="2692956"/>
            <a:ext cx="3556873" cy="3145631"/>
          </a:xfrm>
          <a:prstGeom prst="roundRect">
            <a:avLst>
              <a:gd name="adj" fmla="val 865"/>
            </a:avLst>
          </a:prstGeom>
          <a:solidFill>
            <a:srgbClr val="F2EFE8"/>
          </a:solidFill>
          <a:ln/>
        </p:spPr>
      </p:sp>
      <p:sp>
        <p:nvSpPr>
          <p:cNvPr id="9" name="Shape 6"/>
          <p:cNvSpPr/>
          <p:nvPr/>
        </p:nvSpPr>
        <p:spPr>
          <a:xfrm>
            <a:off x="10278308" y="2692956"/>
            <a:ext cx="3574971" cy="3145631"/>
          </a:xfrm>
          <a:prstGeom prst="roundRect">
            <a:avLst>
              <a:gd name="adj" fmla="val 865"/>
            </a:avLst>
          </a:prstGeom>
          <a:solidFill>
            <a:srgbClr val="F2EFE8"/>
          </a:solidFill>
          <a:ln/>
        </p:spPr>
      </p:sp>
      <p:sp>
        <p:nvSpPr>
          <p:cNvPr id="10" name="Text 7"/>
          <p:cNvSpPr/>
          <p:nvPr/>
        </p:nvSpPr>
        <p:spPr>
          <a:xfrm>
            <a:off x="10459760" y="2829044"/>
            <a:ext cx="3212068" cy="287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stackedWidget-&gt;addWidget(crearVistaLogin());
stackedWidget-&gt;addWidget(crearVistaRegistro());
stackedWidget-&gt;addWidget(crearVistaHome());
QNetworkReply *reply =
    networkManager-&gt;get(QNetworkRequest(url));
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6519982" y="6255782"/>
            <a:ext cx="1918216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4700"/>
          </a:p>
        </p:txBody>
      </p:sp>
      <p:sp>
        <p:nvSpPr>
          <p:cNvPr id="12" name="Text 9"/>
          <p:cNvSpPr/>
          <p:nvPr/>
        </p:nvSpPr>
        <p:spPr>
          <a:xfrm>
            <a:off x="6344960" y="705409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Archivos .cpp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9099233" y="6255782"/>
            <a:ext cx="1918216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4700"/>
          </a:p>
        </p:txBody>
      </p:sp>
      <p:sp>
        <p:nvSpPr>
          <p:cNvPr id="14" name="Text 11"/>
          <p:cNvSpPr/>
          <p:nvPr/>
        </p:nvSpPr>
        <p:spPr>
          <a:xfrm>
            <a:off x="8924211" y="705409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Headers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11678483" y="6255782"/>
            <a:ext cx="1918335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4700"/>
          </a:p>
        </p:txBody>
      </p:sp>
      <p:sp>
        <p:nvSpPr>
          <p:cNvPr id="16" name="Text 13"/>
          <p:cNvSpPr/>
          <p:nvPr/>
        </p:nvSpPr>
        <p:spPr>
          <a:xfrm>
            <a:off x="11503462" y="705409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Vistas lógicas</a:t>
            </a:r>
            <a:endParaRPr lang="en-US" sz="17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B79F330-3203-0E9D-430C-E25B186DCDF5}"/>
              </a:ext>
            </a:extLst>
          </p:cNvPr>
          <p:cNvSpPr/>
          <p:nvPr/>
        </p:nvSpPr>
        <p:spPr>
          <a:xfrm>
            <a:off x="5485646" y="7725885"/>
            <a:ext cx="91441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94C4A9A-2B95-7346-6CFE-BFEF75A18045}"/>
              </a:ext>
            </a:extLst>
          </p:cNvPr>
          <p:cNvSpPr/>
          <p:nvPr/>
        </p:nvSpPr>
        <p:spPr>
          <a:xfrm>
            <a:off x="5485646" y="377"/>
            <a:ext cx="91441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5640" y="898327"/>
            <a:ext cx="706778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Por </a:t>
            </a:r>
            <a:r>
              <a:rPr lang="en-US" sz="2150" dirty="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qué</a:t>
            </a:r>
            <a:r>
              <a:rPr lang="en-US" sz="215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150" dirty="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el</a:t>
            </a:r>
            <a:r>
              <a:rPr lang="en-US" sz="215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150" dirty="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proyecto</a:t>
            </a:r>
            <a:r>
              <a:rPr lang="en-US" sz="215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150" dirty="0" err="1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funciona</a:t>
            </a:r>
            <a:r>
              <a:rPr lang="en-US" sz="2150" dirty="0">
                <a:solidFill>
                  <a:srgbClr val="124E73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 bien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6075640" y="1319451"/>
            <a:ext cx="7965519" cy="932140"/>
          </a:xfrm>
          <a:prstGeom prst="roundRect">
            <a:avLst>
              <a:gd name="adj" fmla="val 1761"/>
            </a:avLst>
          </a:prstGeom>
          <a:solidFill>
            <a:srgbClr val="F3EEE3"/>
          </a:solidFill>
          <a:ln/>
        </p:spPr>
      </p:sp>
      <p:sp>
        <p:nvSpPr>
          <p:cNvPr id="5" name="Shape 2"/>
          <p:cNvSpPr/>
          <p:nvPr/>
        </p:nvSpPr>
        <p:spPr>
          <a:xfrm>
            <a:off x="6185059" y="1428869"/>
            <a:ext cx="328255" cy="328255"/>
          </a:xfrm>
          <a:prstGeom prst="roundRect">
            <a:avLst>
              <a:gd name="adj" fmla="val 27853606"/>
            </a:avLst>
          </a:prstGeom>
          <a:solidFill>
            <a:srgbClr val="325F7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5308" y="1519118"/>
            <a:ext cx="147637" cy="147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5059" y="1809869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Problema real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85059" y="2012513"/>
            <a:ext cx="774668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1000" dirty="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Ataca</a:t>
            </a:r>
            <a:r>
              <a:rPr lang="en-US" sz="1000" dirty="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a un </a:t>
            </a:r>
            <a:r>
              <a:rPr lang="en-US" sz="1000" dirty="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problema</a:t>
            </a:r>
            <a:r>
              <a:rPr lang="en-US" sz="1000" dirty="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real y </a:t>
            </a:r>
            <a:r>
              <a:rPr lang="en-US" sz="1000" dirty="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comprensible</a:t>
            </a:r>
            <a:r>
              <a:rPr lang="en-US" sz="1000" dirty="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del </a:t>
            </a:r>
            <a:r>
              <a:rPr lang="en-US" sz="1000" dirty="0" err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instituto</a:t>
            </a:r>
            <a:endParaRPr lang="en-US" sz="1000" dirty="0" err="1">
              <a:latin typeface="Source Sans 3"/>
              <a:ea typeface="Calibri"/>
              <a:cs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075640" y="2304336"/>
            <a:ext cx="7965519" cy="932140"/>
          </a:xfrm>
          <a:prstGeom prst="roundRect">
            <a:avLst>
              <a:gd name="adj" fmla="val 1761"/>
            </a:avLst>
          </a:prstGeom>
          <a:solidFill>
            <a:srgbClr val="F3EEE3"/>
          </a:solidFill>
          <a:ln/>
        </p:spPr>
      </p:sp>
      <p:sp>
        <p:nvSpPr>
          <p:cNvPr id="10" name="Shape 6"/>
          <p:cNvSpPr/>
          <p:nvPr/>
        </p:nvSpPr>
        <p:spPr>
          <a:xfrm>
            <a:off x="6185059" y="2413754"/>
            <a:ext cx="328255" cy="328255"/>
          </a:xfrm>
          <a:prstGeom prst="roundRect">
            <a:avLst>
              <a:gd name="adj" fmla="val 27853606"/>
            </a:avLst>
          </a:prstGeom>
          <a:solidFill>
            <a:srgbClr val="325F7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5308" y="2504003"/>
            <a:ext cx="147637" cy="1476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85059" y="2794754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Integración</a:t>
            </a:r>
            <a:endParaRPr lang="en-US" sz="1200">
              <a:latin typeface="MuseoModerno Medium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5059" y="2997398"/>
            <a:ext cx="774668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Integra varias asignaturas en una arquitectura coherente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75640" y="3289221"/>
            <a:ext cx="7965519" cy="932140"/>
          </a:xfrm>
          <a:prstGeom prst="roundRect">
            <a:avLst>
              <a:gd name="adj" fmla="val 1761"/>
            </a:avLst>
          </a:prstGeom>
          <a:solidFill>
            <a:srgbClr val="F3EEE3"/>
          </a:solidFill>
          <a:ln/>
        </p:spPr>
      </p:sp>
      <p:sp>
        <p:nvSpPr>
          <p:cNvPr id="15" name="Shape 10"/>
          <p:cNvSpPr/>
          <p:nvPr/>
        </p:nvSpPr>
        <p:spPr>
          <a:xfrm>
            <a:off x="6185059" y="3398639"/>
            <a:ext cx="328255" cy="328255"/>
          </a:xfrm>
          <a:prstGeom prst="roundRect">
            <a:avLst>
              <a:gd name="adj" fmla="val 27853606"/>
            </a:avLst>
          </a:prstGeom>
          <a:solidFill>
            <a:srgbClr val="325F7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5308" y="3488888"/>
            <a:ext cx="147637" cy="1476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85059" y="3779639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Tecnologías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85059" y="3982283"/>
            <a:ext cx="774668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Demuestra front, backend, datos, ERP e interfaz de escritorio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075640" y="4274106"/>
            <a:ext cx="7965519" cy="932140"/>
          </a:xfrm>
          <a:prstGeom prst="roundRect">
            <a:avLst>
              <a:gd name="adj" fmla="val 1761"/>
            </a:avLst>
          </a:prstGeom>
          <a:solidFill>
            <a:srgbClr val="F3EEE3"/>
          </a:solidFill>
          <a:ln/>
        </p:spPr>
      </p:sp>
      <p:sp>
        <p:nvSpPr>
          <p:cNvPr id="20" name="Shape 14"/>
          <p:cNvSpPr/>
          <p:nvPr/>
        </p:nvSpPr>
        <p:spPr>
          <a:xfrm>
            <a:off x="6185059" y="4383524"/>
            <a:ext cx="328255" cy="328255"/>
          </a:xfrm>
          <a:prstGeom prst="roundRect">
            <a:avLst>
              <a:gd name="adj" fmla="val 27853606"/>
            </a:avLst>
          </a:prstGeom>
          <a:solidFill>
            <a:srgbClr val="325F7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5308" y="4473773"/>
            <a:ext cx="147637" cy="1476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85059" y="4764524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Mejoras futuras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185059" y="4967168"/>
            <a:ext cx="774668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Deja mejoras claras para evolución futura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075640" y="5285423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Mejoras futuras</a:t>
            </a:r>
            <a:endParaRPr lang="en-US" sz="1050"/>
          </a:p>
        </p:txBody>
      </p:sp>
      <p:sp>
        <p:nvSpPr>
          <p:cNvPr id="25" name="Shape 18"/>
          <p:cNvSpPr/>
          <p:nvPr/>
        </p:nvSpPr>
        <p:spPr>
          <a:xfrm>
            <a:off x="6075640" y="5535573"/>
            <a:ext cx="246221" cy="246221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26" name="Text 19"/>
          <p:cNvSpPr/>
          <p:nvPr/>
        </p:nvSpPr>
        <p:spPr>
          <a:xfrm>
            <a:off x="6374606" y="5573078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Notificaciones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374606" y="5775722"/>
            <a:ext cx="766655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Alertas en tiempo real para usuarios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075640" y="6010870"/>
            <a:ext cx="246221" cy="246221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29" name="Text 22"/>
          <p:cNvSpPr/>
          <p:nvPr/>
        </p:nvSpPr>
        <p:spPr>
          <a:xfrm>
            <a:off x="6374606" y="6048375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Panel web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374606" y="6251019"/>
            <a:ext cx="766655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Interfaz adicional para gestión desde navegador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075640" y="6486168"/>
            <a:ext cx="246221" cy="246221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32" name="Text 25"/>
          <p:cNvSpPr/>
          <p:nvPr/>
        </p:nvSpPr>
        <p:spPr>
          <a:xfrm>
            <a:off x="6351160" y="6488503"/>
            <a:ext cx="2250344" cy="217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Estadísticas de sostenibilidad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6374606" y="6726317"/>
            <a:ext cx="766655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Indicadores de impacto ambiental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6075640" y="6961465"/>
            <a:ext cx="246221" cy="246221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35" name="Text 28"/>
          <p:cNvSpPr/>
          <p:nvPr/>
        </p:nvSpPr>
        <p:spPr>
          <a:xfrm>
            <a:off x="6374606" y="6998970"/>
            <a:ext cx="136790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>
                <a:solidFill>
                  <a:srgbClr val="2B4150"/>
                </a:solidFill>
                <a:latin typeface="MuseoModerno Medium"/>
                <a:ea typeface="MuseoModerno Medium" pitchFamily="34" charset="-122"/>
                <a:cs typeface="MuseoModerno Medium" pitchFamily="34" charset="-120"/>
              </a:rPr>
              <a:t>Mejor integración</a:t>
            </a:r>
            <a:endParaRPr lang="en-US" sz="1200">
              <a:latin typeface="MuseoModerno Medium"/>
              <a:ea typeface="Calibri"/>
              <a:cs typeface="Calibri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6374606" y="7201614"/>
            <a:ext cx="766655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Conexión más fluida entre Odoo y la app móvil</a:t>
            </a:r>
            <a:endParaRPr lang="en-US" sz="1000">
              <a:latin typeface="Source Sans 3"/>
              <a:ea typeface="Calibri"/>
              <a:cs typeface="Calibri"/>
            </a:endParaRP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DF5DB16E-9F36-EFD4-88A3-0757744927F7}"/>
              </a:ext>
            </a:extLst>
          </p:cNvPr>
          <p:cNvSpPr/>
          <p:nvPr/>
        </p:nvSpPr>
        <p:spPr>
          <a:xfrm>
            <a:off x="5485646" y="7725885"/>
            <a:ext cx="91441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24F10846-993A-6A97-B423-D90CB088FA97}"/>
              </a:ext>
            </a:extLst>
          </p:cNvPr>
          <p:cNvSpPr/>
          <p:nvPr/>
        </p:nvSpPr>
        <p:spPr>
          <a:xfrm>
            <a:off x="5485646" y="377"/>
            <a:ext cx="91441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A669-4772-8B1D-C080-AD96B519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5">
            <a:extLst>
              <a:ext uri="{FF2B5EF4-FFF2-40B4-BE49-F238E27FC236}">
                <a16:creationId xmlns:a16="http://schemas.microsoft.com/office/drawing/2014/main" id="{1612FEE7-2507-A4E9-D46D-63488FBC797E}"/>
              </a:ext>
            </a:extLst>
          </p:cNvPr>
          <p:cNvSpPr/>
          <p:nvPr/>
        </p:nvSpPr>
        <p:spPr>
          <a:xfrm>
            <a:off x="-754" y="7725885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DA61308E-4868-3519-97B1-4C2FEB80C592}"/>
              </a:ext>
            </a:extLst>
          </p:cNvPr>
          <p:cNvSpPr/>
          <p:nvPr/>
        </p:nvSpPr>
        <p:spPr>
          <a:xfrm>
            <a:off x="-754" y="377"/>
            <a:ext cx="14630598" cy="504190"/>
          </a:xfrm>
          <a:prstGeom prst="roundRect">
            <a:avLst>
              <a:gd name="adj" fmla="val 2640"/>
            </a:avLst>
          </a:prstGeom>
          <a:solidFill>
            <a:srgbClr val="F3EEE3"/>
          </a:solidFill>
          <a:ln/>
        </p:spPr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A728467-E671-6C22-0043-9E5784690232}"/>
              </a:ext>
            </a:extLst>
          </p:cNvPr>
          <p:cNvSpPr txBox="1"/>
          <p:nvPr/>
        </p:nvSpPr>
        <p:spPr>
          <a:xfrm>
            <a:off x="-1" y="0"/>
            <a:ext cx="1463039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s-ES" sz="9600">
              <a:latin typeface="MuseoModerno Medium"/>
              <a:ea typeface="Calibri"/>
              <a:cs typeface="Calibri"/>
            </a:endParaRPr>
          </a:p>
          <a:p>
            <a:pPr algn="ctr"/>
            <a:endParaRPr lang="es-ES" sz="9600">
              <a:latin typeface="MuseoModerno Medium"/>
              <a:ea typeface="Calibri"/>
              <a:cs typeface="Calibri"/>
            </a:endParaRPr>
          </a:p>
          <a:p>
            <a:pPr algn="ctr"/>
            <a:r>
              <a:rPr lang="es-ES" sz="9600">
                <a:latin typeface="MuseoModerno Medium"/>
                <a:ea typeface="Calibri"/>
                <a:cs typeface="Calibri"/>
              </a:rPr>
              <a:t>PREGUNTAS</a:t>
            </a:r>
            <a:endParaRPr lang="es-ES" sz="9600">
              <a:latin typeface="MuseoModerno Medium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16C200A5-BC8F-93F4-91C0-74FCFBB6E8E7}"/>
              </a:ext>
            </a:extLst>
          </p:cNvPr>
          <p:cNvSpPr/>
          <p:nvPr/>
        </p:nvSpPr>
        <p:spPr>
          <a:xfrm>
            <a:off x="3536990" y="5996915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4000" b="1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Equipo:</a:t>
            </a:r>
            <a:r>
              <a:rPr lang="en-US" sz="4000">
                <a:solidFill>
                  <a:srgbClr val="2B4150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Josep · Alex · Ruben · Raúl</a:t>
            </a:r>
            <a:endParaRPr lang="en-US" sz="4000">
              <a:latin typeface="Source Sans 3"/>
            </a:endParaRPr>
          </a:p>
        </p:txBody>
      </p:sp>
      <p:pic>
        <p:nvPicPr>
          <p:cNvPr id="2" name="Imagen 1" descr="Forma&#10;&#10;El contenido generado por IA puede ser incorrecto.">
            <a:extLst>
              <a:ext uri="{FF2B5EF4-FFF2-40B4-BE49-F238E27FC236}">
                <a16:creationId xmlns:a16="http://schemas.microsoft.com/office/drawing/2014/main" id="{740C2F97-0248-08D6-6940-7EDBCF815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2743" y="1074025"/>
            <a:ext cx="3348859" cy="3348859"/>
          </a:xfrm>
          <a:prstGeom prst="rect">
            <a:avLst/>
          </a:prstGeom>
        </p:spPr>
      </p:pic>
      <p:pic>
        <p:nvPicPr>
          <p:cNvPr id="5" name="Imagen 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AE17950-35FB-8297-057D-34145DD25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04630" y="3659175"/>
            <a:ext cx="3657607" cy="192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64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9</Slides>
  <Notes>9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506</cp:revision>
  <dcterms:created xsi:type="dcterms:W3CDTF">2026-03-10T11:11:24Z</dcterms:created>
  <dcterms:modified xsi:type="dcterms:W3CDTF">2026-03-10T15:36:37Z</dcterms:modified>
</cp:coreProperties>
</file>